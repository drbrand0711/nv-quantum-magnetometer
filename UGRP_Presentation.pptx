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99D4C5-99AD-4EFC-BF13-DBD41D6A145E}">
  <a:tblStyle styleId="{F099D4C5-99AD-4EFC-BF13-DBD41D6A14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OpenSans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5a59d531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5a59d53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5a59d531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5a59d531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05911ad30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05911ad30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5a59d531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5a59d531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5911ad30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5911ad30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5a59d531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5a59d531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ed4eb80f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ed4eb80f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f8acc394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f8acc394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f8acc394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f8acc394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f9293c3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f9293c3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f9293c3a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f9293c3a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f9293c3a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f9293c3a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9bea935bf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9bea935b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05911ad30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05911ad30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9bea935bf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9bea935b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9bea935bf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9bea935b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0ca4b05b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0ca4b05b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05911ad30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05911ad30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05911ad30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05911ad30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05911ad30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05911ad30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f87ec57e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df87ec57e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f87ec57e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f87ec57e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ed4eb80f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ed4eb80f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7956de4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7956de4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f8acc394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af8acc394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ed4eb80f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ed4eb80f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hyperlink" Target="https://doi.org/10.1038/s41377-018-0073-2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hyperlink" Target="https://doi.org/10.1364/OE.537112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61300" y="1334550"/>
            <a:ext cx="8422500" cy="73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80">
                <a:latin typeface="Open Sans"/>
                <a:ea typeface="Open Sans"/>
                <a:cs typeface="Open Sans"/>
                <a:sym typeface="Open Sans"/>
              </a:rPr>
              <a:t>UGRP - Presentation</a:t>
            </a:r>
            <a:endParaRPr sz="368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61300" y="2071350"/>
            <a:ext cx="3942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Mouna Rajesh G, ee22b100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90850" y="2736650"/>
            <a:ext cx="8004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Topic: Efficient Excitation Optics for NV center based Magnetometry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 Quantum Magnetometer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Nitrogen Vacancy color centres in Diamond offer </a:t>
            </a:r>
            <a:r>
              <a:rPr b="1" lang="en" sz="1600">
                <a:solidFill>
                  <a:srgbClr val="434343"/>
                </a:solidFill>
              </a:rPr>
              <a:t>long spin coherence times</a:t>
            </a:r>
            <a:r>
              <a:rPr lang="en" sz="1600">
                <a:solidFill>
                  <a:srgbClr val="434343"/>
                </a:solidFill>
              </a:rPr>
              <a:t> even at room temperature, ideal for quantum sensing.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Magnetic field measured using </a:t>
            </a:r>
            <a:r>
              <a:rPr b="1" lang="en" sz="1600">
                <a:solidFill>
                  <a:srgbClr val="434343"/>
                </a:solidFill>
              </a:rPr>
              <a:t>ODMR technique</a:t>
            </a:r>
            <a:endParaRPr b="1" sz="1600">
              <a:solidFill>
                <a:srgbClr val="43434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>
                <a:solidFill>
                  <a:srgbClr val="434343"/>
                </a:solidFill>
              </a:rPr>
              <a:t>Parts of the system</a:t>
            </a:r>
            <a:endParaRPr sz="1600">
              <a:solidFill>
                <a:srgbClr val="434343"/>
              </a:solidFill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b="1" lang="en" sz="1600">
                <a:solidFill>
                  <a:srgbClr val="434343"/>
                </a:solidFill>
              </a:rPr>
              <a:t>Laser + Excitation Optics</a:t>
            </a:r>
            <a:endParaRPr b="1" sz="1600">
              <a:solidFill>
                <a:srgbClr val="434343"/>
              </a:solidFill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en" sz="1600">
                <a:solidFill>
                  <a:srgbClr val="434343"/>
                </a:solidFill>
              </a:rPr>
              <a:t>Diamond Sample</a:t>
            </a:r>
            <a:endParaRPr sz="1600">
              <a:solidFill>
                <a:srgbClr val="434343"/>
              </a:solidFill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en" sz="1600">
                <a:solidFill>
                  <a:srgbClr val="434343"/>
                </a:solidFill>
              </a:rPr>
              <a:t>Fluorescence Collection Optics</a:t>
            </a:r>
            <a:endParaRPr sz="1600">
              <a:solidFill>
                <a:srgbClr val="434343"/>
              </a:solidFill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en" sz="1600">
                <a:solidFill>
                  <a:srgbClr val="434343"/>
                </a:solidFill>
              </a:rPr>
              <a:t>Microwave field generator</a:t>
            </a:r>
            <a:endParaRPr sz="1600">
              <a:solidFill>
                <a:srgbClr val="434343"/>
              </a:solidFill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</a:pPr>
            <a:r>
              <a:rPr lang="en" sz="1600">
                <a:solidFill>
                  <a:srgbClr val="434343"/>
                </a:solidFill>
              </a:rPr>
              <a:t>Bias magnetic field</a:t>
            </a:r>
            <a:endParaRPr sz="1600">
              <a:solidFill>
                <a:srgbClr val="434343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522" y="2361875"/>
            <a:ext cx="3218126" cy="247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4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of the project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10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Survey of excitation optics of the magnetometer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Determine the current spatial optics scheme efficiency of light conversion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Key parameters that affect the sensitivity of magnetometer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Explain why integrated optics is a good choice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Design of an efficient excitation scheme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Investigate waveguide level designs to couple light into Diamond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Simulate and evaluate the efficiency of light coupling</a:t>
            </a:r>
            <a:endParaRPr sz="1600"/>
          </a:p>
        </p:txBody>
      </p:sp>
      <p:cxnSp>
        <p:nvCxnSpPr>
          <p:cNvPr id="71" name="Google Shape;71;p15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Spatial Optics - IIT Madras</a:t>
            </a:r>
            <a:endParaRPr/>
          </a:p>
        </p:txBody>
      </p:sp>
      <p:cxnSp>
        <p:nvCxnSpPr>
          <p:cNvPr id="77" name="Google Shape;77;p16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10346" l="0" r="42393" t="0"/>
          <a:stretch/>
        </p:blipFill>
        <p:spPr>
          <a:xfrm>
            <a:off x="311700" y="1053800"/>
            <a:ext cx="4014700" cy="346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2052" y="4323400"/>
            <a:ext cx="1905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4669550" y="1672200"/>
            <a:ext cx="3653700" cy="1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η</a:t>
            </a:r>
            <a:r>
              <a:rPr baseline="-25000" lang="en" sz="1600">
                <a:solidFill>
                  <a:schemeClr val="dk2"/>
                </a:solidFill>
              </a:rPr>
              <a:t>f </a:t>
            </a:r>
            <a:r>
              <a:rPr lang="en" sz="1600">
                <a:solidFill>
                  <a:schemeClr val="dk2"/>
                </a:solidFill>
              </a:rPr>
              <a:t> = φ</a:t>
            </a:r>
            <a:r>
              <a:rPr baseline="-25000" lang="en" sz="1600">
                <a:solidFill>
                  <a:schemeClr val="dk2"/>
                </a:solidFill>
              </a:rPr>
              <a:t>p</a:t>
            </a:r>
            <a:r>
              <a:rPr lang="en" sz="1600">
                <a:solidFill>
                  <a:schemeClr val="dk2"/>
                </a:solidFill>
              </a:rPr>
              <a:t> / </a:t>
            </a:r>
            <a:r>
              <a:rPr lang="en" sz="1600">
                <a:solidFill>
                  <a:schemeClr val="dk2"/>
                </a:solidFill>
              </a:rPr>
              <a:t>φ</a:t>
            </a:r>
            <a:r>
              <a:rPr baseline="-25000" lang="en" sz="1600">
                <a:solidFill>
                  <a:schemeClr val="dk2"/>
                </a:solidFill>
              </a:rPr>
              <a:t>f</a:t>
            </a:r>
            <a:r>
              <a:rPr lang="en" sz="1600">
                <a:solidFill>
                  <a:schemeClr val="dk2"/>
                </a:solidFill>
              </a:rPr>
              <a:t> , is the number of red photons emitted per green photon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It is optimized by long interacting path length , but 0.7 is already a high value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Spatial Optics - IIT Madras</a:t>
            </a:r>
            <a:endParaRPr/>
          </a:p>
        </p:txBody>
      </p:sp>
      <p:cxnSp>
        <p:nvCxnSpPr>
          <p:cNvPr id="86" name="Google Shape;86;p17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50" y="940151"/>
            <a:ext cx="4655599" cy="411704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4927450" y="2314063"/>
            <a:ext cx="39369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Number of interacting NVs is an important parameter affecting the sensitivity of magnetometer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This number has to be improved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integrated design?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068675"/>
            <a:ext cx="8520600" cy="33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Current designs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Bulky optics, not portable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Very low percent of light from source actually interacts with NVs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Leads to low overall efficiency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Not much control over volume of interaction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Crucial factor in determining sensitivity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Ideally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High efficiency light coupling into diamond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Control over volume of excitation</a:t>
            </a:r>
            <a:endParaRPr sz="1600"/>
          </a:p>
        </p:txBody>
      </p:sp>
      <p:cxnSp>
        <p:nvCxnSpPr>
          <p:cNvPr id="95" name="Google Shape;95;p18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16425"/>
            <a:ext cx="81225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Extreme Mode Converter</a:t>
            </a:r>
            <a:endParaRPr sz="2500"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204850" y="1977800"/>
            <a:ext cx="5584500" cy="21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300 nm x 250 nm SiN waveguide to 160 µm Gaussian beam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1: Waveguide to Slab mode expander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2: Apodized grating , slab to free space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Designed for 780nm , Si</a:t>
            </a:r>
            <a:r>
              <a:rPr baseline="-25000" lang="en" sz="1600"/>
              <a:t>3</a:t>
            </a:r>
            <a:r>
              <a:rPr lang="en" sz="1600"/>
              <a:t>N</a:t>
            </a:r>
            <a:r>
              <a:rPr baseline="-25000" lang="en" sz="1600"/>
              <a:t>4</a:t>
            </a:r>
            <a:r>
              <a:rPr lang="en" sz="1600"/>
              <a:t> on SiO</a:t>
            </a:r>
            <a:r>
              <a:rPr baseline="-25000" lang="en" sz="1600"/>
              <a:t>2</a:t>
            </a:r>
            <a:endParaRPr baseline="-2500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68% port coupling efficiency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29" y="1736154"/>
            <a:ext cx="2651350" cy="237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9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9"/>
          <p:cNvCxnSpPr/>
          <p:nvPr/>
        </p:nvCxnSpPr>
        <p:spPr>
          <a:xfrm rot="10800000">
            <a:off x="951400" y="3984550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9"/>
          <p:cNvCxnSpPr/>
          <p:nvPr/>
        </p:nvCxnSpPr>
        <p:spPr>
          <a:xfrm rot="10800000">
            <a:off x="1187500" y="3984550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9"/>
          <p:cNvCxnSpPr/>
          <p:nvPr/>
        </p:nvCxnSpPr>
        <p:spPr>
          <a:xfrm rot="10800000">
            <a:off x="1423600" y="3984550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9"/>
          <p:cNvCxnSpPr/>
          <p:nvPr/>
        </p:nvCxnSpPr>
        <p:spPr>
          <a:xfrm rot="10800000">
            <a:off x="1659700" y="3991750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9"/>
          <p:cNvCxnSpPr/>
          <p:nvPr/>
        </p:nvCxnSpPr>
        <p:spPr>
          <a:xfrm rot="10800000">
            <a:off x="1895800" y="3991750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9"/>
          <p:cNvCxnSpPr/>
          <p:nvPr/>
        </p:nvCxnSpPr>
        <p:spPr>
          <a:xfrm rot="-5400000">
            <a:off x="1978100" y="2629075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9"/>
          <p:cNvCxnSpPr/>
          <p:nvPr/>
        </p:nvCxnSpPr>
        <p:spPr>
          <a:xfrm rot="-5400000">
            <a:off x="1978100" y="2865175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9"/>
          <p:cNvCxnSpPr/>
          <p:nvPr/>
        </p:nvCxnSpPr>
        <p:spPr>
          <a:xfrm rot="-5400000">
            <a:off x="1978100" y="3101275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9"/>
          <p:cNvCxnSpPr/>
          <p:nvPr/>
        </p:nvCxnSpPr>
        <p:spPr>
          <a:xfrm rot="-5400000">
            <a:off x="1978100" y="3310413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9"/>
          <p:cNvCxnSpPr/>
          <p:nvPr/>
        </p:nvCxnSpPr>
        <p:spPr>
          <a:xfrm rot="-5400000">
            <a:off x="1970900" y="3573475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9"/>
          <p:cNvCxnSpPr/>
          <p:nvPr/>
        </p:nvCxnSpPr>
        <p:spPr>
          <a:xfrm rot="-5400000">
            <a:off x="1978100" y="3809575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9"/>
          <p:cNvCxnSpPr/>
          <p:nvPr/>
        </p:nvCxnSpPr>
        <p:spPr>
          <a:xfrm rot="-5400000">
            <a:off x="1978100" y="3991750"/>
            <a:ext cx="236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9"/>
          <p:cNvSpPr txBox="1"/>
          <p:nvPr/>
        </p:nvSpPr>
        <p:spPr>
          <a:xfrm>
            <a:off x="614400" y="4194275"/>
            <a:ext cx="24198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https://doi.org/10.1038/s41377-018-0073-2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 vs Effective index</a:t>
            </a:r>
            <a:endParaRPr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017725"/>
            <a:ext cx="8520600" cy="8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</a:t>
            </a:r>
            <a:r>
              <a:rPr lang="en" sz="1600"/>
              <a:t>ind the effective index profiles as function of gap.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Need to use Lumerical Finite Difference Eigenmode (FDE) solver.</a:t>
            </a:r>
            <a:endParaRPr sz="1600"/>
          </a:p>
        </p:txBody>
      </p:sp>
      <p:sp>
        <p:nvSpPr>
          <p:cNvPr id="123" name="Google Shape;123;p20"/>
          <p:cNvSpPr txBox="1"/>
          <p:nvPr/>
        </p:nvSpPr>
        <p:spPr>
          <a:xfrm>
            <a:off x="91375" y="3616400"/>
            <a:ext cx="4645800" cy="1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Red → Waveguide + Slab = Si</a:t>
            </a:r>
            <a:r>
              <a:rPr baseline="-25000" lang="en" sz="1600">
                <a:solidFill>
                  <a:schemeClr val="dk2"/>
                </a:solidFill>
              </a:rPr>
              <a:t>3</a:t>
            </a:r>
            <a:r>
              <a:rPr lang="en" sz="1600">
                <a:solidFill>
                  <a:schemeClr val="dk2"/>
                </a:solidFill>
              </a:rPr>
              <a:t>N</a:t>
            </a:r>
            <a:r>
              <a:rPr baseline="-25000" lang="en" sz="1600">
                <a:solidFill>
                  <a:schemeClr val="dk2"/>
                </a:solidFill>
              </a:rPr>
              <a:t>4</a:t>
            </a:r>
            <a:r>
              <a:rPr lang="en" sz="1600">
                <a:solidFill>
                  <a:schemeClr val="dk2"/>
                </a:solidFill>
              </a:rPr>
              <a:t> with n = 2.01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Gray →</a:t>
            </a:r>
            <a:r>
              <a:rPr lang="en"/>
              <a:t> </a:t>
            </a:r>
            <a:r>
              <a:rPr lang="en" sz="1600">
                <a:solidFill>
                  <a:schemeClr val="dk2"/>
                </a:solidFill>
              </a:rPr>
              <a:t>Cladding = SiO</a:t>
            </a:r>
            <a:r>
              <a:rPr baseline="-25000" lang="en" sz="1600">
                <a:solidFill>
                  <a:schemeClr val="dk2"/>
                </a:solidFill>
              </a:rPr>
              <a:t>2</a:t>
            </a:r>
            <a:r>
              <a:rPr lang="en" sz="1600">
                <a:solidFill>
                  <a:schemeClr val="dk2"/>
                </a:solidFill>
              </a:rPr>
              <a:t> with n = 1.45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Designed the slab with increasing loss from 1 µm wide onwards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763" y="1838525"/>
            <a:ext cx="3117125" cy="1694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20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" name="Google Shape;126;p20"/>
          <p:cNvPicPr preferRelativeResize="0"/>
          <p:nvPr/>
        </p:nvPicPr>
        <p:blipFill rotWithShape="1">
          <a:blip r:embed="rId4">
            <a:alphaModFix/>
          </a:blip>
          <a:srcRect b="27320" l="6306" r="12320" t="20192"/>
          <a:stretch/>
        </p:blipFill>
        <p:spPr>
          <a:xfrm>
            <a:off x="5294437" y="1838525"/>
            <a:ext cx="3433213" cy="16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5031938" y="3616388"/>
            <a:ext cx="3958200" cy="7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560"/>
              <a:t>Run FDE mode solver and manually pick the waveguide TE</a:t>
            </a:r>
            <a:r>
              <a:rPr baseline="-25000" lang="en" sz="1560"/>
              <a:t>0</a:t>
            </a:r>
            <a:r>
              <a:rPr lang="en" sz="1560"/>
              <a:t> mode</a:t>
            </a:r>
            <a:endParaRPr sz="15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60"/>
          </a:p>
        </p:txBody>
      </p:sp>
      <p:cxnSp>
        <p:nvCxnSpPr>
          <p:cNvPr id="128" name="Google Shape;128;p20"/>
          <p:cNvCxnSpPr/>
          <p:nvPr/>
        </p:nvCxnSpPr>
        <p:spPr>
          <a:xfrm>
            <a:off x="4841800" y="3623600"/>
            <a:ext cx="900" cy="13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31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 vs Effective index plots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3720150"/>
            <a:ext cx="85206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Re{n</a:t>
            </a:r>
            <a:r>
              <a:rPr baseline="-25000" lang="en" sz="1600"/>
              <a:t>eff</a:t>
            </a:r>
            <a:r>
              <a:rPr lang="en" sz="1600"/>
              <a:t>} saturates at 1.589 for g &gt; 500 nm | Paper result : 1.578 for g &gt; 500nm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Im{n</a:t>
            </a:r>
            <a:r>
              <a:rPr baseline="-25000" lang="en" sz="1600"/>
              <a:t>eff</a:t>
            </a:r>
            <a:r>
              <a:rPr lang="en" sz="1600"/>
              <a:t>} is linear in log scale with a = 0.05639 ,1/b =84.7731 nm 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| Paper result : a = 0.06423,1/b = 84.2612 nm</a:t>
            </a:r>
            <a:endParaRPr sz="1600"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50" y="1017725"/>
            <a:ext cx="3648751" cy="259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3926" y="1104775"/>
            <a:ext cx="3356675" cy="2397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21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 profile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θ</a:t>
            </a:r>
            <a:r>
              <a:rPr baseline="-25000" lang="en" sz="1600"/>
              <a:t>tilt</a:t>
            </a:r>
            <a:r>
              <a:rPr lang="en" sz="1600"/>
              <a:t> = cos</a:t>
            </a:r>
            <a:r>
              <a:rPr baseline="30000" lang="en" sz="1600"/>
              <a:t>-1</a:t>
            </a:r>
            <a:r>
              <a:rPr lang="en" sz="1600"/>
              <a:t>(1.589/1.79) = 24.41°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Analytic equation remains same as in the paper(with -ve sign and z`</a:t>
            </a:r>
            <a:r>
              <a:rPr baseline="30000" lang="en" sz="1600"/>
              <a:t>2</a:t>
            </a:r>
            <a:r>
              <a:rPr lang="en" sz="1600"/>
              <a:t> in exp) with a,b modified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	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</a:t>
            </a:r>
            <a:r>
              <a:rPr baseline="-25000" lang="en" sz="1600"/>
              <a:t>0</a:t>
            </a:r>
            <a:r>
              <a:rPr lang="en" sz="1600"/>
              <a:t> = w . sin(θ</a:t>
            </a:r>
            <a:r>
              <a:rPr baseline="-25000" lang="en" sz="1600"/>
              <a:t>tilt</a:t>
            </a:r>
            <a:r>
              <a:rPr lang="en" sz="1600"/>
              <a:t>) = 100 . √2 µm → w = 342.16 µm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Gap profile plotted using python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2225" y="2057850"/>
            <a:ext cx="3829050" cy="800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22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 profile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11700" y="4165275"/>
            <a:ext cx="35283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With paper’s a,b,w values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4 nm variation for 9 µm length</a:t>
            </a:r>
            <a:endParaRPr sz="1600"/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9750"/>
            <a:ext cx="3495857" cy="26622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23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4" name="Google Shape;15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3324" y="1193061"/>
            <a:ext cx="3682750" cy="275738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4948550" y="4104675"/>
            <a:ext cx="3779100" cy="8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With obtained a,b,w values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11.5 nm variation for 30 µm length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31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of varying gap profile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52175" y="1017725"/>
            <a:ext cx="85206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Coded in Python to output the (g(z) , z) pairs for several points for 30 </a:t>
            </a:r>
            <a:r>
              <a:rPr lang="en" sz="1600"/>
              <a:t>µm</a:t>
            </a:r>
            <a:r>
              <a:rPr lang="en" sz="1600"/>
              <a:t> of z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Imported these data points in Lumerical FDTD to create the slab </a:t>
            </a:r>
            <a:endParaRPr sz="1600"/>
          </a:p>
        </p:txBody>
      </p:sp>
      <p:cxnSp>
        <p:nvCxnSpPr>
          <p:cNvPr id="162" name="Google Shape;162;p24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25" y="1794725"/>
            <a:ext cx="1078025" cy="31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6750" y="1794725"/>
            <a:ext cx="3138325" cy="274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/>
        </p:nvSpPr>
        <p:spPr>
          <a:xfrm>
            <a:off x="3135700" y="4621800"/>
            <a:ext cx="1280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Power vs z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5450075" y="1983125"/>
            <a:ext cx="34227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Comments: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Very tiny changes in the gap size - in the order of 10 nm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Meshing for this - too expensive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Might be the cause of inaccurate field profile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Apodized Grating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347463" y="2492700"/>
            <a:ext cx="6951000" cy="5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Designed using the parameters given in the paper</a:t>
            </a:r>
            <a:endParaRPr sz="1600"/>
          </a:p>
        </p:txBody>
      </p:sp>
      <p:cxnSp>
        <p:nvCxnSpPr>
          <p:cNvPr id="173" name="Google Shape;173;p25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900" y="1122100"/>
            <a:ext cx="55721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5425" y="3004675"/>
            <a:ext cx="3981000" cy="19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Apodized Grating</a:t>
            </a:r>
            <a:endParaRPr/>
          </a:p>
        </p:txBody>
      </p:sp>
      <p:cxnSp>
        <p:nvCxnSpPr>
          <p:cNvPr id="181" name="Google Shape;181;p26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2" name="Google Shape;18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13" y="1326050"/>
            <a:ext cx="3395825" cy="3057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/>
        </p:nvSpPr>
        <p:spPr>
          <a:xfrm>
            <a:off x="4572000" y="1787450"/>
            <a:ext cx="40134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Comments: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Gaussian beam of waist 100 </a:t>
            </a:r>
            <a:r>
              <a:rPr lang="en" sz="1600">
                <a:solidFill>
                  <a:schemeClr val="dk2"/>
                </a:solidFill>
              </a:rPr>
              <a:t>µm</a:t>
            </a:r>
            <a:r>
              <a:rPr lang="en" sz="1600">
                <a:solidFill>
                  <a:schemeClr val="dk2"/>
                </a:solidFill>
              </a:rPr>
              <a:t> , but too expensive to simulate z-axis for that length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Might be the reason for unexpected field profiles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311700" y="31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Extreme Mode Converter</a:t>
            </a:r>
            <a:endParaRPr/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311700" y="964075"/>
            <a:ext cx="8520600" cy="30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Simulation issues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Efficiency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Design focuses on getting a Gaussian beam - controls volume of excitation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Power conversion efficiency is not very great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Loss of light at air-diamond interface is not avoided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Unclear parameters in paper: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Length of the waveguide section , gap profile used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Gaussian beam profile of slab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Adapting to 532 nm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Apodized grating parameters need to be optimized again</a:t>
            </a:r>
            <a:endParaRPr sz="1600"/>
          </a:p>
        </p:txBody>
      </p:sp>
      <p:cxnSp>
        <p:nvCxnSpPr>
          <p:cNvPr id="190" name="Google Shape;190;p27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7"/>
          <p:cNvSpPr txBox="1"/>
          <p:nvPr/>
        </p:nvSpPr>
        <p:spPr>
          <a:xfrm>
            <a:off x="271850" y="3895775"/>
            <a:ext cx="85206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2"/>
                </a:solidFill>
              </a:rPr>
              <a:t>Need a design to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Focus on power conversion efficiency ,whilst also controlling volume of excitation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Direct coupling into diamond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 Efficient Grating Coupler</a:t>
            </a:r>
            <a:endParaRPr/>
          </a:p>
        </p:txBody>
      </p:sp>
      <p:sp>
        <p:nvSpPr>
          <p:cNvPr id="197" name="Google Shape;197;p28"/>
          <p:cNvSpPr txBox="1"/>
          <p:nvPr>
            <p:ph idx="1" type="body"/>
          </p:nvPr>
        </p:nvSpPr>
        <p:spPr>
          <a:xfrm>
            <a:off x="4163450" y="1080200"/>
            <a:ext cx="4668900" cy="38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Single Beam </a:t>
            </a:r>
            <a:r>
              <a:rPr lang="en" sz="1600"/>
              <a:t>radiation</a:t>
            </a:r>
            <a:r>
              <a:rPr lang="en" sz="1600"/>
              <a:t> condition: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-</a:t>
            </a:r>
            <a:r>
              <a:rPr lang="en" sz="1600"/>
              <a:t>n</a:t>
            </a:r>
            <a:r>
              <a:rPr baseline="-25000" lang="en" sz="1600"/>
              <a:t>c</a:t>
            </a:r>
            <a:r>
              <a:rPr lang="en" sz="1600"/>
              <a:t> &lt; λ/Λ - n</a:t>
            </a:r>
            <a:r>
              <a:rPr baseline="-25000" lang="en" sz="1600"/>
              <a:t>F </a:t>
            </a:r>
            <a:r>
              <a:rPr lang="en" sz="1600"/>
              <a:t>&lt; -n</a:t>
            </a:r>
            <a:r>
              <a:rPr baseline="-25000" lang="en" sz="1600"/>
              <a:t>b</a:t>
            </a:r>
            <a:endParaRPr baseline="-25000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Design for chip to free-space coupling: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Materials, and Λ are chosen to satisfy single beam condition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W, H are chosen to allow TM</a:t>
            </a:r>
            <a:r>
              <a:rPr baseline="-25000" lang="en" sz="1600"/>
              <a:t>0</a:t>
            </a:r>
            <a:endParaRPr baseline="-2500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</a:t>
            </a:r>
            <a:r>
              <a:rPr baseline="-25000" lang="en" sz="1600"/>
              <a:t>s</a:t>
            </a:r>
            <a:r>
              <a:rPr lang="en" sz="1600"/>
              <a:t>, g, L</a:t>
            </a:r>
            <a:r>
              <a:rPr baseline="-25000" lang="en" sz="1600"/>
              <a:t>s</a:t>
            </a:r>
            <a:r>
              <a:rPr lang="en" sz="1600"/>
              <a:t> are variable and determine            𝛼</a:t>
            </a:r>
            <a:r>
              <a:rPr baseline="-25000" lang="en" sz="1600"/>
              <a:t>F</a:t>
            </a:r>
            <a:r>
              <a:rPr lang="en" sz="1600"/>
              <a:t> = -ln(1-P</a:t>
            </a:r>
            <a:r>
              <a:rPr baseline="-25000" lang="en" sz="1600"/>
              <a:t>rad</a:t>
            </a:r>
            <a:r>
              <a:rPr lang="en" sz="1600"/>
              <a:t>/P</a:t>
            </a:r>
            <a:r>
              <a:rPr baseline="-25000" lang="en" sz="1600"/>
              <a:t>in</a:t>
            </a:r>
            <a:r>
              <a:rPr lang="en" sz="1600"/>
              <a:t>)/(2.L)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Length to radiate 99% , L = 2.3/</a:t>
            </a:r>
            <a:r>
              <a:rPr lang="en" sz="1600"/>
              <a:t>𝛼</a:t>
            </a:r>
            <a:r>
              <a:rPr baseline="-25000" lang="en" sz="1600"/>
              <a:t>F</a:t>
            </a:r>
            <a:endParaRPr sz="1600"/>
          </a:p>
        </p:txBody>
      </p:sp>
      <p:cxnSp>
        <p:nvCxnSpPr>
          <p:cNvPr id="198" name="Google Shape;198;p28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9" name="Google Shape;1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625" y="972175"/>
            <a:ext cx="2035450" cy="149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276" y="2424125"/>
            <a:ext cx="2813851" cy="236932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8"/>
          <p:cNvSpPr txBox="1"/>
          <p:nvPr/>
        </p:nvSpPr>
        <p:spPr>
          <a:xfrm>
            <a:off x="916550" y="4793450"/>
            <a:ext cx="22836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https://doi.org/10.1364/OE.537112 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 Efficient Grating Coupler</a:t>
            </a:r>
            <a:endParaRPr/>
          </a:p>
        </p:txBody>
      </p:sp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For single beam radiation of green light into Diamond substrate: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λ</a:t>
            </a:r>
            <a:r>
              <a:rPr lang="en" sz="1600"/>
              <a:t> = 532 nm, n</a:t>
            </a:r>
            <a:r>
              <a:rPr baseline="-25000" lang="en" sz="1600"/>
              <a:t>c</a:t>
            </a:r>
            <a:r>
              <a:rPr lang="en" sz="1600"/>
              <a:t> = 2.425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Core material : n &gt; 2.425 at 532 nm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Options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Gallium Phosphide (GaP) : n = 3.4932 , k = 0.00263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Titanium Dioxide (TiO</a:t>
            </a:r>
            <a:r>
              <a:rPr baseline="-25000" lang="en" sz="1600"/>
              <a:t>2</a:t>
            </a:r>
            <a:r>
              <a:rPr lang="en" sz="1600"/>
              <a:t>) : n = 2.6678 , k = 0</a:t>
            </a:r>
            <a:endParaRPr sz="1600"/>
          </a:p>
        </p:txBody>
      </p:sp>
      <p:cxnSp>
        <p:nvCxnSpPr>
          <p:cNvPr id="208" name="Google Shape;208;p29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311700" y="31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 efficient grating coupler</a:t>
            </a:r>
            <a:endParaRPr/>
          </a:p>
        </p:txBody>
      </p:sp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311700" y="1152475"/>
            <a:ext cx="8387100" cy="4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GaP: n = 3.49,k = 0.0026 | Diamond n</a:t>
            </a:r>
            <a:r>
              <a:rPr baseline="-25000" lang="en" sz="1630"/>
              <a:t>c</a:t>
            </a:r>
            <a:r>
              <a:rPr lang="en" sz="1630"/>
              <a:t> = 2.42,k = 0 | SiO2 n</a:t>
            </a:r>
            <a:r>
              <a:rPr baseline="-25000" lang="en" sz="1630"/>
              <a:t>b</a:t>
            </a:r>
            <a:r>
              <a:rPr lang="en" sz="1630"/>
              <a:t> = 1.46,k=0</a:t>
            </a:r>
            <a:endParaRPr sz="163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30"/>
          </a:p>
        </p:txBody>
      </p:sp>
      <p:cxnSp>
        <p:nvCxnSpPr>
          <p:cNvPr id="215" name="Google Shape;215;p30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6" name="Google Shape;2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50" y="1840600"/>
            <a:ext cx="3088200" cy="253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 txBox="1"/>
          <p:nvPr/>
        </p:nvSpPr>
        <p:spPr>
          <a:xfrm>
            <a:off x="1688300" y="4456775"/>
            <a:ext cx="16023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TM</a:t>
            </a:r>
            <a:r>
              <a:rPr baseline="-25000" lang="en" sz="1600">
                <a:solidFill>
                  <a:schemeClr val="dk2"/>
                </a:solidFill>
              </a:rPr>
              <a:t>0</a:t>
            </a:r>
            <a:endParaRPr baseline="-25000" sz="1600">
              <a:solidFill>
                <a:schemeClr val="dk2"/>
              </a:solidFill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3912900" y="2303475"/>
            <a:ext cx="4785900" cy="19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n</a:t>
            </a:r>
            <a:r>
              <a:rPr baseline="-25000" lang="en" sz="1600">
                <a:solidFill>
                  <a:schemeClr val="dk2"/>
                </a:solidFill>
              </a:rPr>
              <a:t>eff</a:t>
            </a:r>
            <a:r>
              <a:rPr lang="en" sz="1600">
                <a:solidFill>
                  <a:schemeClr val="dk2"/>
                </a:solidFill>
              </a:rPr>
              <a:t> = 3.368 + 0.0026i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l</a:t>
            </a:r>
            <a:r>
              <a:rPr b="1" lang="en" sz="1600">
                <a:solidFill>
                  <a:schemeClr val="dk2"/>
                </a:solidFill>
              </a:rPr>
              <a:t>oss = 2745.3 (dB/cm)</a:t>
            </a:r>
            <a:endParaRPr b="1"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Attributed to the k value of GaP at 532 nm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Similar loss was obtained by changing the lower cladding to other materials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311700" y="1045175"/>
            <a:ext cx="85206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TiO</a:t>
            </a:r>
            <a:r>
              <a:rPr baseline="-25000" lang="en" sz="1600"/>
              <a:t>2</a:t>
            </a:r>
            <a:r>
              <a:rPr lang="en" sz="1600"/>
              <a:t>: n = 2.667,k = 0 | Diamond n</a:t>
            </a:r>
            <a:r>
              <a:rPr baseline="-25000" lang="en" sz="1600"/>
              <a:t>c</a:t>
            </a:r>
            <a:r>
              <a:rPr lang="en" sz="1600"/>
              <a:t> = 2.42,k = 0 | SiO</a:t>
            </a:r>
            <a:r>
              <a:rPr baseline="-25000" lang="en" sz="1600"/>
              <a:t>2</a:t>
            </a:r>
            <a:r>
              <a:rPr lang="en" sz="1600"/>
              <a:t> n</a:t>
            </a:r>
            <a:r>
              <a:rPr baseline="-25000" lang="en" sz="1600"/>
              <a:t>b</a:t>
            </a:r>
            <a:r>
              <a:rPr lang="en" sz="1600"/>
              <a:t> = 1.46,k=0</a:t>
            </a:r>
            <a:endParaRPr sz="1600"/>
          </a:p>
        </p:txBody>
      </p:sp>
      <p:sp>
        <p:nvSpPr>
          <p:cNvPr id="224" name="Google Shape;224;p31"/>
          <p:cNvSpPr txBox="1"/>
          <p:nvPr>
            <p:ph type="title"/>
          </p:nvPr>
        </p:nvSpPr>
        <p:spPr>
          <a:xfrm>
            <a:off x="311700" y="31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 efficient grating coupler</a:t>
            </a:r>
            <a:endParaRPr/>
          </a:p>
        </p:txBody>
      </p:sp>
      <p:cxnSp>
        <p:nvCxnSpPr>
          <p:cNvPr id="225" name="Google Shape;225;p31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1"/>
          <p:cNvSpPr txBox="1"/>
          <p:nvPr/>
        </p:nvSpPr>
        <p:spPr>
          <a:xfrm>
            <a:off x="1586875" y="4112550"/>
            <a:ext cx="16023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TM</a:t>
            </a:r>
            <a:r>
              <a:rPr baseline="-25000" lang="en" sz="1600">
                <a:solidFill>
                  <a:schemeClr val="dk2"/>
                </a:solidFill>
              </a:rPr>
              <a:t>0</a:t>
            </a:r>
            <a:endParaRPr baseline="-25000" sz="1600">
              <a:solidFill>
                <a:schemeClr val="dk2"/>
              </a:solidFill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3905750" y="2088875"/>
            <a:ext cx="4785900" cy="19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n</a:t>
            </a:r>
            <a:r>
              <a:rPr baseline="-25000" lang="en" sz="1600">
                <a:solidFill>
                  <a:schemeClr val="dk2"/>
                </a:solidFill>
              </a:rPr>
              <a:t>eff</a:t>
            </a:r>
            <a:r>
              <a:rPr lang="en" sz="1600">
                <a:solidFill>
                  <a:schemeClr val="dk2"/>
                </a:solidFill>
              </a:rPr>
              <a:t> = 2.439 + 0i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loss = 0 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Good choice for our design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Need to adjust the core dimensions to allow some leaking for evanescent coupling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28" name="Google Shape;2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25" y="1605425"/>
            <a:ext cx="3338885" cy="247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1"/>
          <p:cNvSpPr txBox="1"/>
          <p:nvPr/>
        </p:nvSpPr>
        <p:spPr>
          <a:xfrm>
            <a:off x="1500450" y="3135475"/>
            <a:ext cx="9285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Diamond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1545175" y="2022925"/>
            <a:ext cx="9285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SiO</a:t>
            </a:r>
            <a:r>
              <a:rPr baseline="-25000" lang="en">
                <a:solidFill>
                  <a:schemeClr val="lt1"/>
                </a:solidFill>
              </a:rPr>
              <a:t>2</a:t>
            </a:r>
            <a:endParaRPr baseline="-2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3323550" y="1309125"/>
            <a:ext cx="557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With W = 200 nm , H = 400 nm 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</a:t>
            </a:r>
            <a:r>
              <a:rPr baseline="-25000" lang="en" sz="1600"/>
              <a:t>eff,0</a:t>
            </a:r>
            <a:r>
              <a:rPr lang="en" sz="1600"/>
              <a:t> = 2.439 + 0i , and leaking into sides as well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From </a:t>
            </a:r>
            <a:r>
              <a:rPr lang="en" sz="1600"/>
              <a:t>single beam condition 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3.899&lt; λ/Λ &lt; 4.864 , chose Λ = 125 nm for λ/Λ = 4.256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θ</a:t>
            </a:r>
            <a:r>
              <a:rPr baseline="-25000" lang="en" sz="1600"/>
              <a:t>c</a:t>
            </a:r>
            <a:r>
              <a:rPr lang="en" sz="1600"/>
              <a:t> = 48.5° (from vertical)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L</a:t>
            </a:r>
            <a:r>
              <a:rPr baseline="-25000" lang="en" sz="1600"/>
              <a:t>s</a:t>
            </a:r>
            <a:r>
              <a:rPr lang="en" sz="1600"/>
              <a:t> chosen as 50 nm arbitrarily, and L is fixed at 10 µm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g and w</a:t>
            </a:r>
            <a:r>
              <a:rPr baseline="-25000" lang="en" sz="1600"/>
              <a:t>s</a:t>
            </a:r>
            <a:r>
              <a:rPr lang="en" sz="1600"/>
              <a:t> are varied to get different 𝛼</a:t>
            </a:r>
            <a:r>
              <a:rPr baseline="-25000" lang="en" sz="1600"/>
              <a:t>F</a:t>
            </a:r>
            <a:r>
              <a:rPr lang="en" sz="1600"/>
              <a:t> values</a:t>
            </a:r>
            <a:endParaRPr sz="1600"/>
          </a:p>
        </p:txBody>
      </p:sp>
      <p:sp>
        <p:nvSpPr>
          <p:cNvPr id="236" name="Google Shape;236;p32"/>
          <p:cNvSpPr txBox="1"/>
          <p:nvPr>
            <p:ph type="title"/>
          </p:nvPr>
        </p:nvSpPr>
        <p:spPr>
          <a:xfrm>
            <a:off x="311700" y="31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 efficient grating coupler</a:t>
            </a:r>
            <a:endParaRPr/>
          </a:p>
        </p:txBody>
      </p:sp>
      <p:cxnSp>
        <p:nvCxnSpPr>
          <p:cNvPr id="237" name="Google Shape;237;p32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8" name="Google Shape;23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805400" y="1289625"/>
            <a:ext cx="1849450" cy="178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850" y="3328500"/>
            <a:ext cx="2985050" cy="133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311700" y="31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 efficient grating coupler</a:t>
            </a:r>
            <a:endParaRPr/>
          </a:p>
        </p:txBody>
      </p:sp>
      <p:cxnSp>
        <p:nvCxnSpPr>
          <p:cNvPr id="245" name="Google Shape;245;p33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46" name="Google Shape;246;p33"/>
          <p:cNvGraphicFramePr/>
          <p:nvPr/>
        </p:nvGraphicFramePr>
        <p:xfrm>
          <a:off x="561288" y="233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{F099D4C5-99AD-4EFC-BF13-DBD41D6A145E}</a:tableStyleId>
              </a:tblPr>
              <a:tblGrid>
                <a:gridCol w="989450"/>
                <a:gridCol w="989450"/>
                <a:gridCol w="989450"/>
                <a:gridCol w="989450"/>
                <a:gridCol w="989450"/>
                <a:gridCol w="2811750"/>
              </a:tblGrid>
              <a:tr h="66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w</a:t>
                      </a:r>
                      <a:r>
                        <a:rPr b="1" baseline="-25000" lang="en" sz="1600">
                          <a:solidFill>
                            <a:schemeClr val="dk2"/>
                          </a:solidFill>
                        </a:rPr>
                        <a:t>s</a:t>
                      </a: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 (nm)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g</a:t>
                      </a: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 (nm)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T</a:t>
                      </a:r>
                      <a:r>
                        <a:rPr b="1" baseline="-25000" lang="en" sz="1600">
                          <a:solidFill>
                            <a:schemeClr val="dk2"/>
                          </a:solidFill>
                        </a:rPr>
                        <a:t>up</a:t>
                      </a:r>
                      <a:endParaRPr b="1" baseline="-25000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T</a:t>
                      </a:r>
                      <a:r>
                        <a:rPr b="1" baseline="-25000" lang="en" sz="1600">
                          <a:solidFill>
                            <a:schemeClr val="dk2"/>
                          </a:solidFill>
                        </a:rPr>
                        <a:t>down</a:t>
                      </a:r>
                      <a:endParaRPr b="1" baseline="-25000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𝛼</a:t>
                      </a:r>
                      <a:r>
                        <a:rPr b="1" baseline="-25000" lang="en" sz="1600">
                          <a:solidFill>
                            <a:schemeClr val="dk2"/>
                          </a:solidFill>
                        </a:rPr>
                        <a:t>F</a:t>
                      </a:r>
                      <a:r>
                        <a:rPr baseline="-25000" lang="en" sz="160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(m</a:t>
                      </a:r>
                      <a:r>
                        <a:rPr b="1" baseline="30000" lang="en" sz="1600">
                          <a:solidFill>
                            <a:schemeClr val="dk2"/>
                          </a:solidFill>
                        </a:rPr>
                        <a:t>-1</a:t>
                      </a: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)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L for 99% coupling (mm)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</a:rPr>
                        <a:t>500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</a:rPr>
                        <a:t>50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</a:rPr>
                        <a:t>0.212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</a:rPr>
                        <a:t>3.52e-4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</a:rPr>
                        <a:t>11937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</a:rPr>
                        <a:t>0.19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400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100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0.0422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6.35e-5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2155.9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1.06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7" name="Google Shape;247;p33"/>
          <p:cNvSpPr txBox="1"/>
          <p:nvPr/>
        </p:nvSpPr>
        <p:spPr>
          <a:xfrm>
            <a:off x="561300" y="1862775"/>
            <a:ext cx="8021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l</a:t>
            </a:r>
            <a:r>
              <a:rPr lang="en" sz="1600">
                <a:solidFill>
                  <a:schemeClr val="dk2"/>
                </a:solidFill>
              </a:rPr>
              <a:t>ower g and higher w</a:t>
            </a:r>
            <a:r>
              <a:rPr baseline="-25000" lang="en" sz="1600">
                <a:solidFill>
                  <a:schemeClr val="dk2"/>
                </a:solidFill>
              </a:rPr>
              <a:t>s</a:t>
            </a:r>
            <a:r>
              <a:rPr lang="en" sz="1600">
                <a:solidFill>
                  <a:schemeClr val="dk2"/>
                </a:solidFill>
              </a:rPr>
              <a:t> → higher </a:t>
            </a:r>
            <a:r>
              <a:rPr lang="en" sz="1600">
                <a:solidFill>
                  <a:schemeClr val="dk2"/>
                </a:solidFill>
              </a:rPr>
              <a:t>𝛼</a:t>
            </a:r>
            <a:r>
              <a:rPr baseline="-25000" lang="en" sz="1600">
                <a:solidFill>
                  <a:schemeClr val="dk2"/>
                </a:solidFill>
              </a:rPr>
              <a:t>F</a:t>
            </a:r>
            <a:r>
              <a:rPr lang="en" sz="1600">
                <a:solidFill>
                  <a:schemeClr val="dk2"/>
                </a:solidFill>
              </a:rPr>
              <a:t> , target : get L for 99% coupling around 1 mm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>
            <p:ph type="title"/>
          </p:nvPr>
        </p:nvSpPr>
        <p:spPr>
          <a:xfrm>
            <a:off x="311700" y="31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 efficient grating coupler</a:t>
            </a:r>
            <a:endParaRPr/>
          </a:p>
        </p:txBody>
      </p:sp>
      <p:cxnSp>
        <p:nvCxnSpPr>
          <p:cNvPr id="253" name="Google Shape;253;p34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4" name="Google Shape;2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850" y="1448250"/>
            <a:ext cx="2758575" cy="258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4"/>
          <p:cNvSpPr txBox="1"/>
          <p:nvPr/>
        </p:nvSpPr>
        <p:spPr>
          <a:xfrm>
            <a:off x="3905750" y="1402950"/>
            <a:ext cx="4785900" cy="3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Field profile of a monitor placed in diamond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The abrupt cutoff before ending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Observed for any length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Maybe simulation related issue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The field covers around 4 µm , in the lateral direction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For a diamond sample of 1 mm width, estimated number of such couplers in parallel is 25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type="title"/>
          </p:nvPr>
        </p:nvSpPr>
        <p:spPr>
          <a:xfrm>
            <a:off x="311700" y="31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cxnSp>
        <p:nvCxnSpPr>
          <p:cNvPr id="261" name="Google Shape;261;p35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311700" y="1543200"/>
            <a:ext cx="8520600" cy="20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Adapted a novel design for efficient coupling to our diamond platform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Future work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Vary parameters to get desired field profiles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Simulate long length structures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Efficient coupling from laser source to the waveguide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Fabrication and testing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from the paper</a:t>
            </a:r>
            <a:endParaRPr/>
          </a:p>
        </p:txBody>
      </p:sp>
      <p:sp>
        <p:nvSpPr>
          <p:cNvPr id="268" name="Google Shape;26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Find mode </a:t>
            </a:r>
            <a:r>
              <a:rPr lang="en" sz="1600"/>
              <a:t>profile</a:t>
            </a:r>
            <a:r>
              <a:rPr lang="en" sz="1600"/>
              <a:t> for waveguide TE</a:t>
            </a:r>
            <a:r>
              <a:rPr baseline="-25000" lang="en" sz="1600"/>
              <a:t>0 </a:t>
            </a:r>
            <a:r>
              <a:rPr lang="en" sz="1600"/>
              <a:t>mode , for varying gap values between waveguide and slab. Obtain the Re{n</a:t>
            </a:r>
            <a:r>
              <a:rPr baseline="-25000" lang="en" sz="1600"/>
              <a:t>eff</a:t>
            </a:r>
            <a:r>
              <a:rPr lang="en" sz="1600"/>
              <a:t>} and Im{n</a:t>
            </a:r>
            <a:r>
              <a:rPr baseline="-25000" lang="en" sz="1600"/>
              <a:t>eff</a:t>
            </a:r>
            <a:r>
              <a:rPr lang="en" sz="1600"/>
              <a:t>} vs gap plots.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Find out the saturation value of Re{n</a:t>
            </a:r>
            <a:r>
              <a:rPr baseline="-25000" lang="en" sz="1600"/>
              <a:t>eff</a:t>
            </a:r>
            <a:r>
              <a:rPr lang="en" sz="1600"/>
              <a:t>} and exponential curve fit of Im{n</a:t>
            </a:r>
            <a:r>
              <a:rPr baseline="-25000" lang="en" sz="1600"/>
              <a:t>eff</a:t>
            </a:r>
            <a:r>
              <a:rPr lang="en" sz="1600"/>
              <a:t>}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Use the analytic equation to find gap profile for beam waist w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Simulate the varying gap structure and capture the fields in slab to verify the 1D gaussian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Design apodized grating in the y-z plane as given by the paper. (Need to optimize later for the parameters of our design)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Verify free space Gaussian beam</a:t>
            </a:r>
            <a:endParaRPr sz="1600"/>
          </a:p>
        </p:txBody>
      </p:sp>
      <p:cxnSp>
        <p:nvCxnSpPr>
          <p:cNvPr id="269" name="Google Shape;269;p36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type="title"/>
          </p:nvPr>
        </p:nvSpPr>
        <p:spPr>
          <a:xfrm>
            <a:off x="314775" y="319425"/>
            <a:ext cx="8291100" cy="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existing methods</a:t>
            </a:r>
            <a:endParaRPr/>
          </a:p>
        </p:txBody>
      </p:sp>
      <p:graphicFrame>
        <p:nvGraphicFramePr>
          <p:cNvPr id="275" name="Google Shape;275;p37"/>
          <p:cNvGraphicFramePr/>
          <p:nvPr/>
        </p:nvGraphicFramePr>
        <p:xfrm>
          <a:off x="373125" y="127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{F099D4C5-99AD-4EFC-BF13-DBD41D6A145E}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66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Description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Diamond size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Input power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Fluorescence power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Excitation Type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Sensitivity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6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Baseline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(Our lab)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1mm x 1mm x 1 mm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200mW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4mW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Side excitation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 nT/sqrt Hz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CMOS integrated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200um x 200um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0.54 QE PD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Side excitation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32.1 uT/sqrt Hz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76" name="Google Shape;276;p37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 profile</a:t>
            </a:r>
            <a:endParaRPr/>
          </a:p>
        </p:txBody>
      </p:sp>
      <p:sp>
        <p:nvSpPr>
          <p:cNvPr id="282" name="Google Shape;282;p38"/>
          <p:cNvSpPr txBox="1"/>
          <p:nvPr>
            <p:ph idx="1" type="body"/>
          </p:nvPr>
        </p:nvSpPr>
        <p:spPr>
          <a:xfrm>
            <a:off x="4747225" y="2193374"/>
            <a:ext cx="4350900" cy="1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Plotted </a:t>
            </a:r>
            <a:r>
              <a:rPr lang="en" sz="1600"/>
              <a:t>for </a:t>
            </a:r>
            <a:r>
              <a:rPr lang="en" sz="1600"/>
              <a:t>varying</a:t>
            </a:r>
            <a:r>
              <a:rPr lang="en" sz="1600"/>
              <a:t> w (beam waist)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gap to be &gt; 500 nm , w has to be 645 </a:t>
            </a:r>
            <a:r>
              <a:rPr lang="en" sz="1600"/>
              <a:t>µm</a:t>
            </a:r>
            <a:endParaRPr sz="1600"/>
          </a:p>
        </p:txBody>
      </p:sp>
      <p:pic>
        <p:nvPicPr>
          <p:cNvPr id="283" name="Google Shape;28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42425" cy="32992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38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>
            <p:ph type="title"/>
          </p:nvPr>
        </p:nvSpPr>
        <p:spPr>
          <a:xfrm>
            <a:off x="311700" y="3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 vs Effective index</a:t>
            </a:r>
            <a:endParaRPr/>
          </a:p>
        </p:txBody>
      </p:sp>
      <p:graphicFrame>
        <p:nvGraphicFramePr>
          <p:cNvPr id="290" name="Google Shape;290;p39"/>
          <p:cNvGraphicFramePr/>
          <p:nvPr/>
        </p:nvGraphicFramePr>
        <p:xfrm>
          <a:off x="1184175" y="110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{F099D4C5-99AD-4EFC-BF13-DBD41D6A145E}</a:tableStyleId>
              </a:tblPr>
              <a:tblGrid>
                <a:gridCol w="1711725"/>
                <a:gridCol w="1480150"/>
                <a:gridCol w="1529300"/>
              </a:tblGrid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66666"/>
                          </a:solidFill>
                        </a:rPr>
                        <a:t>g</a:t>
                      </a:r>
                      <a:r>
                        <a:rPr b="1" lang="en" sz="900">
                          <a:solidFill>
                            <a:srgbClr val="666666"/>
                          </a:solidFill>
                        </a:rPr>
                        <a:t>ap (nm)</a:t>
                      </a:r>
                      <a:endParaRPr b="1"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66666"/>
                          </a:solidFill>
                        </a:rPr>
                        <a:t>Re{n</a:t>
                      </a:r>
                      <a:r>
                        <a:rPr b="1" baseline="-25000" lang="en" sz="900">
                          <a:solidFill>
                            <a:srgbClr val="666666"/>
                          </a:solidFill>
                        </a:rPr>
                        <a:t>eff</a:t>
                      </a:r>
                      <a:r>
                        <a:rPr b="1" lang="en" sz="900">
                          <a:solidFill>
                            <a:srgbClr val="666666"/>
                          </a:solidFill>
                        </a:rPr>
                        <a:t>}</a:t>
                      </a:r>
                      <a:endParaRPr b="1"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66666"/>
                          </a:solidFill>
                        </a:rPr>
                        <a:t>Im{n</a:t>
                      </a:r>
                      <a:r>
                        <a:rPr b="1" baseline="-25000" lang="en" sz="900">
                          <a:solidFill>
                            <a:srgbClr val="666666"/>
                          </a:solidFill>
                        </a:rPr>
                        <a:t>eff</a:t>
                      </a:r>
                      <a:r>
                        <a:rPr b="1" lang="en" sz="900">
                          <a:solidFill>
                            <a:srgbClr val="666666"/>
                          </a:solidFill>
                        </a:rPr>
                        <a:t>}</a:t>
                      </a:r>
                      <a:endParaRPr b="1"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210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1.591501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0.004724549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260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1.590196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0.002709159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300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1.589892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0.001485438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350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1.589307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0.001013330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420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1.589374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0.0003723158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500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1.589160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0.0001591399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580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1.589159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6.6451e-5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650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1.589128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2.590849e-5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750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1.589121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1.080486e-5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850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1.589116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3.181339e-6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1000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1.589108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</a:rPr>
                        <a:t>5.409172e-7</a:t>
                      </a:r>
                      <a:endParaRPr sz="9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91" name="Google Shape;291;p39"/>
          <p:cNvCxnSpPr/>
          <p:nvPr/>
        </p:nvCxnSpPr>
        <p:spPr>
          <a:xfrm flipH="1" rot="10800000">
            <a:off x="271850" y="887025"/>
            <a:ext cx="84558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